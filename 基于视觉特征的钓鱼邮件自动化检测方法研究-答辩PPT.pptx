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网络空间安全学院的郑文登，我的毕业论文题目是《基于视觉特征的钓鱼邮件自动化检测方法研究》。在当今数字化时代，钓鱼邮件已成为网络安全的主要威胁之一，传统的检测方法正面临巨大挑战。接下来，我将从研究背景、核心方法、实验结果和总结展望四个方面，向各位老师汇报我的研究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研究背景。钓鱼邮件的威胁日益严峻，而传统基于文本特征的检测方法，正面临攻击者“文本图像化”的新型规避手段。如右图所示，攻击者将恶意内容制作成图片，使得传统检测规则完全失效。尽管深度学习视觉检测是当前主流方向，但现有研究普遍存在模型解释性差、工程落地难、实时性不足等问题。因此，本研究旨在解决这些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上述挑战，本研究设定了明确的目标：构建一套高精度、可解释且能工程落地的检测系统。围绕这个目标，我的研究内容主要分为三个部分：首先，构建一个轻量化的视觉识别模型；其次，设计基于Grad-CAM的可解释性机制；最后，开发一个交互式的检测平台。这张总体框架图清晰地展示了这三者之间的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核心方法是结合MobileNetV2和Grad-CAM。MobileNetV2作为基础网络，其最大的优势是轻量化，通过深度可分离卷积显著降低了计算复杂度，非常适合部署在邮件网关这类资源受限的环境中。同时，我们集成了Grad-CAM模块，它能通过生成热力图的方式，直观地告诉我们模型是根据哪些视觉特征做出判断的，从而解决了深度学习的“黑盒”问题，为安全分析提供了有力的可解释性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理论模型转化为实际可用的工具，我设计并实现了一个完整的Web检测平台。系统采用经典的四层架构，从展现层到数据层，分工明确。如右图所示，用户可以通过简洁的Web界面上传可疑图片，系统不仅能实时给出检测结果，还会同步展示风险热力图，同时支持批量检测和日志审计功能，形成了完整的业务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方法的有效性，我搭建了实验环境。我构建了一个包含正常和钓鱼邮件截图的数据集，并选取了VGG16、ResNet50等经典模型作为对比。这张表格展示了核心的实验结果。可以看到，在准确率和F1-Score上，我们的MobileNetV2模型与重型网络一样，都达到了100%，但在参数量、模型大小和推理耗时上，MobileNetV2 具有显著的优势，参数量仅为 2.42M，推理耗时缩短至 70ms 左右，非常适合部署在资源受限的边缘端设备上。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性能对比。从数据中可以清晰地看到，MobileNetV2的模型大小不到VGG16的八分之一，而推理速度则快了一倍以上。右侧的柱状图更直观地展示了这一点，蓝色的柱子代表MobileNetV2，可以看到它明显优于另外两个灰色的模型。这充分证明了我们的模型在保持最高精度的同时，在性能上具有压倒性优势，非常适合在真实的邮件网关环境中部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高精度和高性能，我们的系统还具备强大的可解释性。这张对比图展示了Grad-CAM的效果。左边是原始的钓鱼邮件图片，右边是系统生成的热力图。可以看到，红色的高亮区域精确地覆盖了伪造的“立即验证”按钮，这证明模型真正学习到了核心的视觉欺骗特征，而不是依赖无关信息。这极大地提升了模型的可信度，并能辅助人工审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的工作进行总结。本次研究成功实现了一套基于视觉感知的钓鱼邮件检测方案，通过采用轻量化模型和可解释性机制，解决了精度、性能和可信度的平衡问题，并开发了完整的Web平台。展望未来，我计划引入大语言模型构建“图文双擎”进行交叉验证，并将检测能力扩展到更多终端，构建全域防御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我的汇报到此结束。再次感谢我的导师阳建华老师，以及各位评委老师的聆听与指导。谢谢大家！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C3E5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基于视觉特征的钓鱼邮件自动化检测方法研究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1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Research on Automated Phishing Email Detection Method Based on Visual Features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0160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397000" y="4318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郑文登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汇报单位：广东技术师范大学 · 网络空间安全学院</a:t>
            </a:r>
            <a:endParaRPr lang="en-US" sz="16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4318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阳建华 教授</a:t>
            </a:r>
            <a:endParaRPr lang="en-US" sz="1100"/>
          </a:p>
          <a:p>
            <a:pPr indent="0" algn="r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日期：2026年5月</a:t>
            </a:r>
            <a:endParaRPr lang="en-US" sz="16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45" r="45"/>
          <a:stretch>
            <a:fillRect/>
          </a:stretch>
        </p:blipFill>
        <p:spPr>
          <a:xfrm>
            <a:off x="5334000" y="5842000"/>
            <a:ext cx="15240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84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核心问题：传统检测方法面临失效风险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威胁严峻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钓鱼邮件已成为数据泄露首要途径。2023上半年企业用户收到</a:t>
            </a: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1.4亿封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钓鱼邮件，同比激增40.89%。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819400" y="2286000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498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传统依赖文本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现有网关主要依赖关键词匹配、正则表达式或基础NLP特征，对纯文本邮件有效。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73600" y="2286000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39C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🎨 新型规避攻击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攻击者将恶意内容“文本图像化”，完全绕过文本规则引擎，导致现有防御体系存在巨大漏报盲区。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84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4381500"/>
            <a:ext cx="266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技术演进路径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规则/黑白名单 ➔ 2. 传统机器学习与NLP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基础OCR识别 ➔</a:t>
            </a: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深度学习视觉感知 (当前主流)</a:t>
            </a:r>
            <a:endParaRPr lang="en-US" sz="11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683000" y="4445000"/>
            <a:ext cx="12700" cy="1651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937000" y="438150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现有研究三大痛点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模型黑盒：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缺乏可解释性，难以获安全人员信任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🧱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工程瓶颈：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对异构图片鲁棒性不足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实时性差：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重型网络推理慢，难满足网关吞吐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 t="14831" b="14831"/>
          <a:stretch>
            <a:fillRect/>
          </a:stretch>
        </p:blipFill>
        <p:spPr>
          <a:xfrm>
            <a:off x="6858000" y="1524000"/>
            <a:ext cx="4572000" cy="2413000"/>
          </a:xfrm>
          <a:prstGeom prst="roundRect">
            <a:avLst>
              <a:gd name="adj" fmla="val 631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858000" y="4191000"/>
            <a:ext cx="4572000" cy="2159000"/>
          </a:xfrm>
          <a:prstGeom prst="roundRect">
            <a:avLst>
              <a:gd name="adj" fmla="val 7058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0" y="4419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视觉规避攻击原理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508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攻击者不再发送纯文本邮件，而是将钓鱼链接、诱骗话术渲染成PNG/JPG图片。传统文本匹配规则无法“读懂”图片内容，导致大量恶意邮件畅通无阻，给企业安全防线造成巨大缺口。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研究目标与总体框架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5875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构建一套面向视觉规避型钓鱼邮件的</a:t>
            </a:r>
            <a:r>
              <a:rPr lang="en-US" sz="1800" b="1" i="0" u="none" strike="noStrike">
                <a:solidFill>
                  <a:srgbClr val="D948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 · 可解释 · 可工程落地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的自动化检测系统，解决现有技术瓶颈。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4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轻量化视觉特征识别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采用轻量级 MobileNetV2 网络结合迁移学习策略，降低计算成本。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实现邮件视觉特征的高精度识别，满足低延迟、低资源消耗的需求。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279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98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94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可解释性机制设计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Grad-CAM 类激活映射技术，定位模型决策的关键区域。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 AI 模型“黑盒”，生成直观热力图，展示钓鱼判定的依据。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79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294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交互式平台工程化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Python 与 Flask 框架开发 Web 系统，整合前后端功能。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实现邮件实时研判、批量检测与操作日志追溯，具备实用价值。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207000"/>
            <a:ext cx="584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📐 总体研究框架逻辑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的轻量化识别模型作为系统的核心引擎，提供底层识别能力；中间的可解释性模块为引擎提供“解释器”，增强用户信任度；右侧的交互平台将两者进行整合，实现从算法模型到实用化产品的落地转化。三者有机结合，共同构成了完整的视觉规避型钓鱼邮件检测解决方案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636000" y="5461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图示：研究内容</a:t>
            </a:r>
            <a:b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逻辑关系架构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核心方法与模型架构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基础网络：MobileNetV2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核心优势：轻量化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采用深度可分离卷积，在保证精度的同时大幅减少参数量和计算成本，完美适配邮件网关等计算资源受限的边缘环境。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训练策略：迁移学习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基于ImageNet预训练权重进行初始化，仅对顶层分类层进行微调，有效解决了特定领域小样本数据集下的收敛困难问题。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419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可解释性模块：Grad-CAM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决策原理：梯度加权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通过反向传播算法计算最后一层卷积特征图对最终预测结果的梯度，以此量化每个特征图的重要性权重。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风险可视化：热力图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将权重与特征图加权融合生成热力图，直观高亮模型关注的伪造按钮、虚假Logo等关键风险区域，打破算法“黑盒”。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t="4493" b="4493"/>
          <a:stretch>
            <a:fillRect/>
          </a:stretch>
        </p:blipFill>
        <p:spPr>
          <a:xfrm>
            <a:off x="6223000" y="1905000"/>
            <a:ext cx="5207000" cy="3556000"/>
          </a:xfrm>
          <a:prstGeom prst="roundRect">
            <a:avLst>
              <a:gd name="adj" fmla="val 428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223000" y="56515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图：MobileNetV2 特征提取 + Grad-CAM 可解释性分析模型架构示意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系统架构与实现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系统四层架构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184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展现层 (Presentation)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Web交互界面，支持图片拖拽上传、实时结果展示及历史日志查询功能。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683000" y="2032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18000" y="2184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(Logic)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基于Flask框架构建，负责用户请求调度、上传文件校验与算法结果封装。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962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核心算法层 (Algorithm)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独立封装图像预处理、特征提取及Grad-CAM热力图生成算法，实现解耦。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83000" y="3810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4000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318000" y="39624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 (Data)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集成SQLite轻量级数据库，完整记录检测日志，支持全流程追溯与数据导出。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5588000" cy="1079500"/>
          </a:xfrm>
          <a:prstGeom prst="roundRect">
            <a:avLst>
              <a:gd name="adj" fmla="val 9411"/>
            </a:avLst>
          </a:prstGeom>
          <a:solidFill>
            <a:srgbClr val="2C3E5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7150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5689600"/>
            <a:ext cx="101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实时解析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毫秒级反馈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置信度评分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3000" y="57150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794000" y="5689600"/>
            <a:ext cx="101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视觉反馈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生成热力图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解释检测逻辑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10000" y="57150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191000" y="5689600"/>
            <a:ext cx="101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批量检测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支持多文件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并发处理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rcRect l="20734" r="20734"/>
          <a:stretch>
            <a:fillRect/>
          </a:stretch>
        </p:blipFill>
        <p:spPr>
          <a:xfrm>
            <a:off x="6985000" y="1905000"/>
            <a:ext cx="4445000" cy="3937000"/>
          </a:xfrm>
          <a:prstGeom prst="roundRect">
            <a:avLst>
              <a:gd name="adj" fmla="val 387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5" name="AutoShape 25"/>
          <p:cNvSpPr/>
          <p:nvPr/>
        </p:nvSpPr>
        <p:spPr>
          <a:xfrm>
            <a:off x="6985000" y="5969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图：系统 Web 交互与检测界面预览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实验设置与性能对比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55800"/>
            <a:ext cx="459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实验设置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79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76400" y="27432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自建数据集 (Dataset)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整合了真实场景下的正常邮件截图与精心构造的钓鱼邮件截图，覆盖多种视觉特征与布局风格，确保数据多样性。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93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76400" y="38862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多模型横向对比 (Models)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选取经典重型网络 VGG16、ResNet50 作为对照组，与 MobileNetV2 轻量化网络在同等实验条件下进行全面评测。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508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50292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多维评价指标 (Metrics)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兼顾模型的计算成本与检测效果，综合考量参数量、模型体积、推理耗时、分类准确率及 F1-Score。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27800" y="1955800"/>
            <a:ext cx="459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主流CNN模型性能横向对比</a:t>
            </a:r>
            <a:endParaRPr lang="en-US" sz="110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527800" y="2794000"/>
          <a:ext cx="4635500" cy="2959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/>
                <a:gridCol w="762000"/>
                <a:gridCol w="825500"/>
                <a:gridCol w="825500"/>
                <a:gridCol w="635000"/>
                <a:gridCol w="635000"/>
              </a:tblGrid>
              <a:tr h="609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参数量(M)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大小(MB)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耗时(ms)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Acc(%)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VGG16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14.78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169.26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150.23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ResNet50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23.85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161.78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135.46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MobileNetV2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2.42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20.28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71.83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1.00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实验结果与分析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41500"/>
            <a:ext cx="3937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模型体积极致轻量化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MobileNetV2 (20.28 MB) 的体积远小于 VGG16 (169.26 MB) 和 ResNet50 (161.78 MB)，仅为它们的</a:t>
            </a:r>
            <a:r>
              <a:rPr lang="en-US" sz="13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1/8 以下</a:t>
            </a:r>
            <a:r>
              <a:rPr lang="en-US" sz="13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，极大地降低了存储和传输成本。</a:t>
            </a:r>
            <a:endParaRPr lang="en-US" sz="13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207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746500"/>
            <a:ext cx="3937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推理速度提升一倍以上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MobileNetV2 (71.83 ms) 的推理耗时显著优于 VGG16 (150.23 ms)，速度</a:t>
            </a:r>
            <a:r>
              <a:rPr lang="en-US" sz="13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快一倍以上</a:t>
            </a:r>
            <a:r>
              <a:rPr lang="en-US" sz="13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，能够充分满足邮件网关实时检测的业务需求。</a:t>
            </a:r>
            <a:endParaRPr lang="en-US" sz="13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3975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5524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结论：MobileNetV2 在保持最高检测精度的同时，实现了模型体积和推理速度的双重优化，是兼顾高精度与高可用性的最佳选择。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889500"/>
          </a:xfrm>
          <a:prstGeom prst="roundRect">
            <a:avLst>
              <a:gd name="adj" fmla="val 311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032000"/>
            <a:ext cx="4699000" cy="4064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可解释性热力图效果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系统不仅能正确识别钓鱼邮件（置信度 &gt; 95%），还能通过热力图精准定位风险区域，让模型决策过程“看得见”。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提升信任度：</a:t>
            </a:r>
            <a:r>
              <a:rPr lang="en-US" sz="13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解决“黑盒”信任危机，为安全研判提供直观依据。</a:t>
            </a:r>
            <a:br>
              <a:rPr lang="en-US" sz="13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辅助人工审核：</a:t>
            </a:r>
            <a:r>
              <a:rPr lang="en-US" sz="1300" b="0" i="0" u="none" strike="noStrike">
                <a:solidFill>
                  <a:srgbClr val="4650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快速高亮风险点，大幅提升人工审核的效率。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10668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28952" b="28952"/>
          <a:stretch>
            <a:fillRect/>
          </a:stretch>
        </p:blipFill>
        <p:spPr>
          <a:xfrm>
            <a:off x="1016000" y="3873500"/>
            <a:ext cx="10160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190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794000"/>
            <a:ext cx="45974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视觉感知方案：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提出并实现了一套基于视觉感知的钓鱼邮件检测方案，有效应对了“文本图像化”这一新型且极具迷惑性的攻击手段。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轻量化模型落地：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MobileNetV2 轻量化架构，在保证高检测精度的同时，大幅提升了推理速度，成功解决了工程落地的性能瓶颈。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可解释性增强：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Grad-CAM 热力图可视化机制，直观展示模型的关注区域，显著提升了模型在实际应用中的可信度与透明度。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全流程闭环平台：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独立开发了完整的 Web 检测平台，整合了功能，实现了从技术验证到业务闭环的完整链路。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35800" y="190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921000"/>
            <a:ext cx="45974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2000"/>
              </a:spcBef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构建“图文双擎”交叉验证体系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结合高精度 OCR 与大语言模型 (LLM) 的语义理解能力，建立“视觉特征 + 文本语义”的双重验证机制，进一步提升对复杂、多变攻击样本的识别率与泛化能力。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4000"/>
              </a:spcBef>
            </a:pPr>
            <a:r>
              <a:rPr lang="en-US" sz="1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打造跨终端全域防御网络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突破单一邮件场景限制，将视觉检测能力横向扩展至恶意短信、App 弹窗、浏览器页面等高频攻击载体，构建多端联动的主动防御体系，实现对用户的全方位安全守护。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C3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 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感谢阳建华老师的悉心指导！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感谢各位评委老师的聆听与指导！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354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2906</Words>
  <Application>WPS 演示</Application>
  <PresentationFormat/>
  <Paragraphs>205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35324</cp:lastModifiedBy>
  <cp:revision>2</cp:revision>
  <dcterms:created xsi:type="dcterms:W3CDTF">2026-05-12T02:44:19Z</dcterms:created>
  <dcterms:modified xsi:type="dcterms:W3CDTF">2026-05-12T05:54:09Z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D1A32597B22D40438C879EA4F51C254D_12</vt:lpwstr>
  </property>
  <property fmtid="{D5CDD505-2E9C-101B-9397-08002B2CF9AE}" pid="3" name="KSOProductBuildVer">
    <vt:lpwstr>2052-12.8.2.19823</vt:lpwstr>
  </property>
</Properties>
</file>